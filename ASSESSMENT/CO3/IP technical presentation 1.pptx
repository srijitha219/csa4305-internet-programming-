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12" r:id="rId2"/>
    <p:sldId id="330" r:id="rId3"/>
    <p:sldId id="329" r:id="rId4"/>
    <p:sldId id="354" r:id="rId5"/>
    <p:sldId id="362" r:id="rId6"/>
    <p:sldId id="350" r:id="rId7"/>
    <p:sldId id="360" r:id="rId8"/>
    <p:sldId id="361" r:id="rId9"/>
    <p:sldId id="363" r:id="rId10"/>
    <p:sldId id="370" r:id="rId11"/>
    <p:sldId id="364" r:id="rId12"/>
    <p:sldId id="375" r:id="rId13"/>
    <p:sldId id="374" r:id="rId14"/>
    <p:sldId id="33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AE8091-DEBD-75FD-AE84-224B4ECB4514}" v="543" dt="2026-08-16T17:22:37.8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1302F-620E-43D9-B7E3-8B303F5623A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6560D8-4280-480C-BEE6-D1BF68CA1C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29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6560D8-4280-480C-BEE6-D1BF68CA1C2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477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4BACD-35E6-F397-C78A-6049CB3F6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B659B-EB39-1B1B-7592-ACC41225D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C6E08-00F5-4512-D056-5247A0791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CFEC-8E4C-48E2-A5CE-53BB206347F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D906F-2199-41DA-6E43-681CF44A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96B7E-4CFD-1EFE-E37C-EEB02E69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2041-7CB4-4B7E-9AFF-29E993267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51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33F0B-74B6-8097-70CD-6C006C431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FD7CF-5C0E-189B-643C-D02F7B066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D56B7-FA2A-D305-0F04-37BCBE73F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CFEC-8E4C-48E2-A5CE-53BB206347F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A503B-720F-B395-ABDF-138B0FBA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F98A7-8E00-ED1E-F0B5-372BC06B4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2041-7CB4-4B7E-9AFF-29E993267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47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9EE38-EA88-6481-03EF-10954B774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EBE8B-EABE-1A5C-6ADC-1156C0761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9AF11-9737-9D37-FB6C-1A504E95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CFEC-8E4C-48E2-A5CE-53BB206347F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B0CF1-CF42-5355-B24D-A3362BB7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FD15F-AA22-F8C3-AC1B-C9468A16B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2041-7CB4-4B7E-9AFF-29E993267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8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0F760-8E72-B8F0-5B04-1C1B65236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79D0B-BDA3-2DDE-0DDB-BC165A528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3D018-50D5-97B3-B7F5-BFF499BE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2F965-0462-7A3A-5B0B-9418EC892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CFEC-8E4C-48E2-A5CE-53BB206347F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B1886-07C5-0BC8-E9B3-747244FC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EAE41-E426-B3FF-9597-765910B5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2041-7CB4-4B7E-9AFF-29E993267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24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C721A-1BB9-136A-C047-7DF1D6D91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0B2FD-0C0B-E741-AC06-A0BF3A675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14759-8F06-393B-1BA1-14FEB59A0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A8F1EF-A350-4E78-9651-74EDDF4F8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FB5994-726E-713E-616A-1E4F2DE51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C7C44B-F0BD-7033-4C20-DD21AE6D8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CFEC-8E4C-48E2-A5CE-53BB206347F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8E43C-AA32-20A0-3673-C2C0FA762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4800D-AE66-0DDF-EF0F-1C742EE8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2041-7CB4-4B7E-9AFF-29E993267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380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A1C3-F369-5C16-8928-120B25B4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A49BF-C3A7-8522-C823-19B736E1F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CFEC-8E4C-48E2-A5CE-53BB206347F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9AFB9-BECF-3691-F5A3-2B225F6CD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6E7C7-C308-5FAE-1AFA-2C7489509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2041-7CB4-4B7E-9AFF-29E993267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134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B92FD-9308-639E-9DCF-A26796504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CFEC-8E4C-48E2-A5CE-53BB206347F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00D8A4-6CA9-D314-FE6B-E281A34A0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31449-C4E0-F455-335D-39067F5E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2041-7CB4-4B7E-9AFF-29E993267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51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E4595-A939-A316-1D29-200C542C7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531D0-D25D-BBC3-452B-62D1CBE95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4DEA5-C39A-CDF2-B54D-03BF4F062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694CE-BB09-2D47-F5E4-6D9C01A33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CFEC-8E4C-48E2-A5CE-53BB206347F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36A5A-1CE4-6514-DC6A-3F9FCE95F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ED049-235E-778F-28A0-31AA7ADF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2041-7CB4-4B7E-9AFF-29E993267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9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E3F3-CF3E-56CB-DFBC-9177425B9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DBE128-9CB7-A94E-B175-FEA2C633B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6BA13-FB1F-E1BA-AAC4-C54F26368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5E06A-ED55-D5E5-4AFD-89351B387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CFEC-8E4C-48E2-A5CE-53BB206347F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BEC95-FC50-DE0C-0E50-F0C9B28D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513B4-B377-B549-688B-09D919399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2041-7CB4-4B7E-9AFF-29E993267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980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784A8-302F-B006-232F-33276C04A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8194A-4055-63EB-3A9A-90B2EBC9D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7BC93-8C79-4787-B914-D3CFF8359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CFEC-8E4C-48E2-A5CE-53BB206347F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014A-5A7C-5473-F5AD-EEA59CFD9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4D4F6-EA1F-E4A1-73BC-D271696DF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2041-7CB4-4B7E-9AFF-29E993267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425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FAE115-E106-5D87-AFDB-E9571EA90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9E08B-358D-84CB-EAB2-68EB8299F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4D883-C94A-4406-759D-68BEA0E9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CFEC-8E4C-48E2-A5CE-53BB206347F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1C3DB-B453-2D3F-F293-33C4807B6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B5311-396C-6C7E-8497-E6F01638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2041-7CB4-4B7E-9AFF-29E993267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098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D235D2-80A7-A35D-2188-0BC040B54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CB011-9226-8914-9B4C-4F6EABAB9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42B51-7A61-26CA-1B3C-47B041725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0CFEC-8E4C-48E2-A5CE-53BB206347F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81B59-7DE8-075E-664F-ABA938ECC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9AE40-A62A-224F-0BF7-7318A92A6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02041-7CB4-4B7E-9AFF-29E993267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44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AAAF75-5F54-80BD-8276-B9B88498351A}"/>
              </a:ext>
            </a:extLst>
          </p:cNvPr>
          <p:cNvSpPr/>
          <p:nvPr/>
        </p:nvSpPr>
        <p:spPr>
          <a:xfrm>
            <a:off x="108155" y="138845"/>
            <a:ext cx="11703747" cy="659997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524000" y="2362200"/>
            <a:ext cx="92456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98" y="207016"/>
            <a:ext cx="10887597" cy="19572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70E743-3132-7F22-01A0-2F451B3FBED2}"/>
              </a:ext>
            </a:extLst>
          </p:cNvPr>
          <p:cNvSpPr txBox="1"/>
          <p:nvPr/>
        </p:nvSpPr>
        <p:spPr>
          <a:xfrm>
            <a:off x="104843" y="2365525"/>
            <a:ext cx="11542470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200" b="1" dirty="0">
                <a:latin typeface="Times New Roman"/>
                <a:ea typeface="+mn-lt"/>
                <a:cs typeface="Times New Roman"/>
              </a:rPr>
              <a:t>Servlet Life Cycle Analysis</a:t>
            </a:r>
            <a:br>
              <a:rPr lang="en-US" sz="3200" b="1" dirty="0">
                <a:latin typeface="Times New Roman"/>
                <a:ea typeface="+mn-lt"/>
                <a:cs typeface="Times New Roman"/>
              </a:rPr>
            </a:br>
            <a:r>
              <a:rPr lang="en-US" sz="3200" b="1" dirty="0">
                <a:latin typeface="Times New Roman"/>
                <a:ea typeface="+mn-lt"/>
                <a:cs typeface="Times New Roman"/>
              </a:rPr>
              <a:t> Execution Flow, Lifecycle Methods &amp; Performance Implications</a:t>
            </a:r>
            <a:endParaRPr lang="en-US" sz="3200" b="1" dirty="0">
              <a:latin typeface="Times New Roman"/>
              <a:cs typeface="Times New Roman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7FE4D90-F6EB-D25D-AF7B-E021C3404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3665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D437083C-755B-B357-C74E-8ACAA76DDE21}"/>
              </a:ext>
            </a:extLst>
          </p:cNvPr>
          <p:cNvSpPr txBox="1"/>
          <p:nvPr/>
        </p:nvSpPr>
        <p:spPr>
          <a:xfrm>
            <a:off x="338723" y="5183207"/>
            <a:ext cx="5621304" cy="806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/>
                <a:cs typeface="Times New Roman"/>
              </a:rPr>
              <a:t>Srijtha</a:t>
            </a:r>
            <a:r>
              <a:rPr lang="en-US" sz="2000" dirty="0">
                <a:latin typeface="Times New Roman"/>
                <a:cs typeface="Times New Roman"/>
              </a:rPr>
              <a:t> S (192471024)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2DC00E92-BBDC-F8F1-7B63-A6449248DC64}"/>
              </a:ext>
            </a:extLst>
          </p:cNvPr>
          <p:cNvSpPr txBox="1"/>
          <p:nvPr/>
        </p:nvSpPr>
        <p:spPr>
          <a:xfrm>
            <a:off x="7970531" y="4967696"/>
            <a:ext cx="3560330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B94407-EB62-7B7B-74F7-B4F08C5B7CBB}"/>
              </a:ext>
            </a:extLst>
          </p:cNvPr>
          <p:cNvSpPr txBox="1"/>
          <p:nvPr/>
        </p:nvSpPr>
        <p:spPr>
          <a:xfrm>
            <a:off x="1422341" y="3793364"/>
            <a:ext cx="8803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DSA 0308 –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Natural Language Processing </a:t>
            </a: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71BFF2-69CB-FCB5-D363-AB054C839602}"/>
              </a:ext>
            </a:extLst>
          </p:cNvPr>
          <p:cNvSpPr/>
          <p:nvPr/>
        </p:nvSpPr>
        <p:spPr>
          <a:xfrm>
            <a:off x="108155" y="129013"/>
            <a:ext cx="11703747" cy="659997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044C1-D389-50CA-9601-B8ECB8C06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7607" y="137944"/>
            <a:ext cx="9144000" cy="99905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3B282-2FD6-B5C1-A2A1-AF86AF8FD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60" y="198279"/>
            <a:ext cx="993609" cy="927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1B9D70-2409-7162-8A64-47D1B0B72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849" y="301588"/>
            <a:ext cx="1120591" cy="1173145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167E343-B7F5-C99A-0917-7B4FA97324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53232" y="3149230"/>
            <a:ext cx="10013591" cy="1133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4C53E1F-442E-0616-4DDD-D42260E8A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064" y="1133276"/>
            <a:ext cx="11071343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ea typeface="+mn-lt"/>
                <a:cs typeface="Times New Roman"/>
              </a:rPr>
              <a:t>What is a Servlet?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+mn-lt"/>
                <a:cs typeface="Times New Roman"/>
              </a:rPr>
              <a:t>Definition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A Servlet is a Java-based server-side component used to process client requests and generate dynamic responses.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r>
              <a:rPr lang="en-US" sz="2400" b="1">
                <a:latin typeface="Times New Roman"/>
                <a:ea typeface="+mn-lt"/>
                <a:cs typeface="Times New Roman"/>
              </a:rPr>
              <a:t>Objectives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Handle HTTP requests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Process client data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Generate dynamic responses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Connect web applications with backend services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+mn-lt"/>
                <a:cs typeface="Times New Roman"/>
              </a:rPr>
              <a:t>Real-World Examples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Login systems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Online banking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E-commerce websites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Student portals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Hospital management systems</a:t>
            </a:r>
            <a:endParaRPr lang="en-US">
              <a:latin typeface="Times New Roman"/>
              <a:cs typeface="Times New Roman"/>
            </a:endParaRPr>
          </a:p>
          <a:p>
            <a:pPr marR="0" lvl="0" algn="l" defTabSz="914400">
              <a:buClrTx/>
              <a:buSzTx/>
              <a:tabLst/>
            </a:pPr>
            <a:endParaRPr lang="en-US" sz="2350" b="1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1895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20A31E8-2EE9-8D7F-19B8-14C713250710}"/>
              </a:ext>
            </a:extLst>
          </p:cNvPr>
          <p:cNvSpPr/>
          <p:nvPr/>
        </p:nvSpPr>
        <p:spPr>
          <a:xfrm>
            <a:off x="114291" y="84605"/>
            <a:ext cx="11963417" cy="663223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AEB83-A01F-C0E2-8B84-728BC600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366" y="0"/>
            <a:ext cx="9265920" cy="84327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Contents</a:t>
            </a:r>
            <a:endParaRPr lang="en-IN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7D8B1-735A-E32C-117F-F7A36040D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80" y="243991"/>
            <a:ext cx="755097" cy="7721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6F80DE-2F61-56A9-58CF-AE295099A8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235390"/>
            <a:ext cx="920568" cy="93928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3DC8BAC-6482-1F01-AA42-289ECF3337F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78877" y="2958443"/>
            <a:ext cx="10437761" cy="1133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410F4D-75EC-BEF5-71A7-4C22DD218BAB}"/>
              </a:ext>
            </a:extLst>
          </p:cNvPr>
          <p:cNvSpPr txBox="1"/>
          <p:nvPr/>
        </p:nvSpPr>
        <p:spPr>
          <a:xfrm>
            <a:off x="1219296" y="634708"/>
            <a:ext cx="8420383" cy="66739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400">
                <a:latin typeface="Times New Roman"/>
                <a:ea typeface="+mn-lt"/>
                <a:cs typeface="Times New Roman"/>
              </a:rPr>
              <a:t>Introduction 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400">
                <a:latin typeface="Times New Roman"/>
                <a:ea typeface="+mn-lt"/>
                <a:cs typeface="Times New Roman"/>
              </a:rPr>
              <a:t>Servlet Architecture 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400">
                <a:latin typeface="Times New Roman"/>
                <a:ea typeface="+mn-lt"/>
                <a:cs typeface="Times New Roman"/>
              </a:rPr>
              <a:t>Servlet Life Cycle 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400" dirty="0" err="1">
                <a:latin typeface="Times New Roman"/>
                <a:cs typeface="Times New Roman"/>
              </a:rPr>
              <a:t>init</a:t>
            </a:r>
            <a:r>
              <a:rPr lang="en-US" sz="2400" dirty="0">
                <a:latin typeface="Times New Roman"/>
                <a:cs typeface="Times New Roman"/>
              </a:rPr>
              <a:t>()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Method 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400">
                <a:latin typeface="Times New Roman"/>
                <a:cs typeface="Times New Roman"/>
              </a:rPr>
              <a:t>service()</a:t>
            </a:r>
            <a:r>
              <a:rPr lang="en-US" sz="2400">
                <a:latin typeface="Times New Roman"/>
                <a:ea typeface="+mn-lt"/>
                <a:cs typeface="Times New Roman"/>
              </a:rPr>
              <a:t> Method 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400">
                <a:latin typeface="Times New Roman"/>
                <a:cs typeface="Times New Roman"/>
              </a:rPr>
              <a:t>destroy()</a:t>
            </a:r>
            <a:r>
              <a:rPr lang="en-US" sz="2400">
                <a:latin typeface="Times New Roman"/>
                <a:ea typeface="+mn-lt"/>
                <a:cs typeface="Times New Roman"/>
              </a:rPr>
              <a:t> Method 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400">
                <a:latin typeface="Times New Roman"/>
                <a:ea typeface="+mn-lt"/>
                <a:cs typeface="Times New Roman"/>
              </a:rPr>
              <a:t>Sequence Diagram 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400">
                <a:latin typeface="Times New Roman"/>
                <a:ea typeface="+mn-lt"/>
                <a:cs typeface="Times New Roman"/>
              </a:rPr>
              <a:t>Performance Analysis 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400">
                <a:latin typeface="Times New Roman"/>
                <a:ea typeface="+mn-lt"/>
                <a:cs typeface="Times New Roman"/>
              </a:rPr>
              <a:t>Applications</a:t>
            </a: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400">
                <a:latin typeface="Times New Roman"/>
                <a:ea typeface="+mn-lt"/>
                <a:cs typeface="Times New Roman"/>
              </a:rPr>
              <a:t>Connecting Everything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  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400">
                <a:latin typeface="Times New Roman"/>
                <a:ea typeface="+mn-lt"/>
                <a:cs typeface="Times New Roman"/>
              </a:rPr>
              <a:t>Conclusion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2974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55E25-0520-7051-62BA-83CF48C6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DA5FFE-8692-A8B5-4F65-5E6EE860DA4A}"/>
              </a:ext>
            </a:extLst>
          </p:cNvPr>
          <p:cNvSpPr/>
          <p:nvPr/>
        </p:nvSpPr>
        <p:spPr>
          <a:xfrm>
            <a:off x="11249" y="129013"/>
            <a:ext cx="12181611" cy="659997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E514E-0F03-2954-DD87-26FA995B1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-2531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latin typeface="Times New Roman"/>
                <a:ea typeface="+mj-lt"/>
                <a:cs typeface="Times New Roman"/>
              </a:rPr>
              <a:t>SERVLET ARCHITECTURE</a:t>
            </a:r>
            <a:endParaRPr lang="en-US" b="1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322D8-F518-4750-4AB3-0FEDB424C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758" y="250526"/>
            <a:ext cx="913947" cy="6177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3B1EF8-A9F3-F27E-2D63-0191D15FF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70" y="250526"/>
            <a:ext cx="683644" cy="47569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D4273931-61FC-E8EC-45F5-DC044F4DA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38" y="729555"/>
            <a:ext cx="10882802" cy="6340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ea typeface="+mn-lt"/>
                <a:cs typeface="Times New Roman"/>
              </a:rPr>
              <a:t>Servlet Container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The Servlet Container manages the complete lifecycle of a servlet.</a:t>
            </a:r>
          </a:p>
          <a:p>
            <a:r>
              <a:rPr lang="en-US" b="1">
                <a:latin typeface="Times New Roman"/>
                <a:ea typeface="+mn-lt"/>
                <a:cs typeface="Times New Roman"/>
              </a:rPr>
              <a:t>Main Responsibilities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Load servlet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Create servlet object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Initialize servlet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Handle requests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Manage responses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Destroy servlet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ea typeface="+mn-lt"/>
                <a:cs typeface="Times New Roman"/>
              </a:rPr>
              <a:t>Example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Client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  ↓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HTTP Request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  ↓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Web Server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  ↓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Servlet Container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  ↓</a:t>
            </a:r>
          </a:p>
          <a:p>
            <a:r>
              <a:rPr lang="en-US" sz="1600">
                <a:latin typeface="Times New Roman"/>
                <a:cs typeface="Times New Roman"/>
              </a:rPr>
              <a:t>Servlet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  ↓</a:t>
            </a:r>
          </a:p>
          <a:p>
            <a:r>
              <a:rPr lang="en-US" sz="1600">
                <a:latin typeface="Times New Roman"/>
                <a:cs typeface="Times New Roman"/>
              </a:rPr>
              <a:t>HTTP Response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  ↓</a:t>
            </a:r>
          </a:p>
          <a:p>
            <a:r>
              <a:rPr lang="en-US" sz="1600">
                <a:latin typeface="Times New Roman"/>
                <a:cs typeface="Times New Roman"/>
              </a:rPr>
              <a:t>Client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endParaRPr lang="en-US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758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4B1C4-FD6E-9E2D-AD4F-1D4970A13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05EEE7-E78A-9FF4-7C86-7265F3917F15}"/>
              </a:ext>
            </a:extLst>
          </p:cNvPr>
          <p:cNvSpPr/>
          <p:nvPr/>
        </p:nvSpPr>
        <p:spPr>
          <a:xfrm>
            <a:off x="184731" y="129504"/>
            <a:ext cx="11703747" cy="659997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F7632-ADA6-AE0C-D81A-4E8143C62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295" y="1135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latin typeface="Times"/>
                <a:ea typeface="+mj-lt"/>
                <a:cs typeface="Times"/>
              </a:rPr>
              <a:t>SERVLET LIFE CYCLE</a:t>
            </a:r>
            <a:endParaRPr lang="en-US" b="1">
              <a:latin typeface="Times"/>
              <a:cs typeface="Time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A8B98-964F-4CAB-08ED-9E1D042E7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895" y="250527"/>
            <a:ext cx="827810" cy="8446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B6B2FE-6E4C-2672-D9F5-A5A21C03B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91" y="250526"/>
            <a:ext cx="746029" cy="762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F237B2-7F72-F82F-0A89-5308F664C0E2}"/>
              </a:ext>
            </a:extLst>
          </p:cNvPr>
          <p:cNvSpPr txBox="1"/>
          <p:nvPr/>
        </p:nvSpPr>
        <p:spPr>
          <a:xfrm>
            <a:off x="424295" y="1129654"/>
            <a:ext cx="12707007" cy="5859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latin typeface="Times"/>
                <a:ea typeface="+mn-lt"/>
                <a:cs typeface="Times"/>
              </a:rPr>
              <a:t>Definition</a:t>
            </a:r>
            <a:endParaRPr lang="en-US" b="1">
              <a:latin typeface="Times"/>
              <a:ea typeface="Calibri"/>
              <a:cs typeface="Times"/>
            </a:endParaRPr>
          </a:p>
          <a:p>
            <a:pPr>
              <a:lnSpc>
                <a:spcPct val="150000"/>
              </a:lnSpc>
            </a:pPr>
            <a:r>
              <a:rPr lang="en-US">
                <a:latin typeface="Times New Roman"/>
                <a:ea typeface="Calibri"/>
                <a:cs typeface="Times New Roman"/>
              </a:rPr>
              <a:t>The Servlet Life Cycle describes the sequence of stages through which a servlet passes from creation to destruction.</a:t>
            </a:r>
            <a:endParaRPr lang="en-US" dirty="0">
              <a:latin typeface="Times New Roman"/>
              <a:ea typeface="Calibri"/>
              <a:cs typeface="Times New Roman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Loading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   ↓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Instantiation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   ↓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dirty="0" err="1">
                <a:ea typeface="+mn-lt"/>
                <a:cs typeface="+mn-lt"/>
              </a:rPr>
              <a:t>init</a:t>
            </a:r>
            <a:r>
              <a:rPr lang="en-US" dirty="0">
                <a:ea typeface="+mn-lt"/>
                <a:cs typeface="+mn-lt"/>
              </a:rPr>
              <a:t>()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   ↓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service()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   ↓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destroy()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b="1">
                <a:latin typeface="Times New Roman"/>
                <a:ea typeface="Calibri"/>
                <a:cs typeface="Times New Roman"/>
              </a:rPr>
              <a:t>Three Important Methods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 err="1">
                <a:latin typeface="Times New Roman"/>
                <a:cs typeface="Times New Roman"/>
              </a:rPr>
              <a:t>init</a:t>
            </a:r>
            <a:r>
              <a:rPr lang="en-US" dirty="0">
                <a:latin typeface="Times New Roman"/>
                <a:cs typeface="Times New Roman"/>
              </a:rPr>
              <a:t>()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→ Initialization 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service()</a:t>
            </a:r>
            <a:r>
              <a:rPr lang="en-US">
                <a:latin typeface="Times New Roman"/>
                <a:ea typeface="Calibri"/>
                <a:cs typeface="Times New Roman"/>
              </a:rPr>
              <a:t> → Request processing 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destroy()</a:t>
            </a:r>
            <a:r>
              <a:rPr lang="en-US">
                <a:latin typeface="Times New Roman"/>
                <a:ea typeface="Calibri"/>
                <a:cs typeface="Times New Roman"/>
              </a:rPr>
              <a:t> → Cleanup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4938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7DF7C4-3AF9-4A95-E53B-B14FAA8E1BE1}"/>
              </a:ext>
            </a:extLst>
          </p:cNvPr>
          <p:cNvSpPr/>
          <p:nvPr/>
        </p:nvSpPr>
        <p:spPr>
          <a:xfrm flipV="1">
            <a:off x="285136" y="161213"/>
            <a:ext cx="11586562" cy="656405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94328-3401-AEC8-853A-7F649F0BB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58" y="366776"/>
            <a:ext cx="516279" cy="5279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35FC06-4376-6024-1073-05C089F1C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258" y="250527"/>
            <a:ext cx="770447" cy="7861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7046796-30E9-9BA1-362E-40284411D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658" y="-1107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Times New Roman"/>
                <a:cs typeface="Times New Roman"/>
              </a:rPr>
              <a:t>init</a:t>
            </a:r>
            <a:r>
              <a:rPr lang="en-US" sz="3200" b="1" dirty="0">
                <a:latin typeface="Times New Roman"/>
                <a:cs typeface="Times New Roman"/>
              </a:rPr>
              <a:t>()</a:t>
            </a:r>
            <a:r>
              <a:rPr lang="en-US" sz="3200" b="1" dirty="0">
                <a:latin typeface="Times New Roman"/>
                <a:ea typeface="+mj-lt"/>
                <a:cs typeface="Times New Roman"/>
              </a:rPr>
              <a:t> METHOD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7" name="AutoShape 2" descr="blob:https://web.whatsapp.com/db9e6968-5c3d-4c78-b6f7-03c383aa62bb">
            <a:extLst>
              <a:ext uri="{FF2B5EF4-FFF2-40B4-BE49-F238E27FC236}">
                <a16:creationId xmlns:a16="http://schemas.microsoft.com/office/drawing/2014/main" id="{712BB113-F5B7-463A-A785-8A35D45699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A39A0C-BBD3-7BEB-5EDE-875C499D736A}"/>
              </a:ext>
            </a:extLst>
          </p:cNvPr>
          <p:cNvSpPr txBox="1"/>
          <p:nvPr/>
        </p:nvSpPr>
        <p:spPr>
          <a:xfrm>
            <a:off x="727048" y="765582"/>
            <a:ext cx="10268607" cy="65003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Definition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/>
                <a:cs typeface="Times New Roman"/>
              </a:rPr>
              <a:t>init</a:t>
            </a:r>
            <a:r>
              <a:rPr lang="en-US" sz="2000" dirty="0">
                <a:latin typeface="Times New Roman"/>
                <a:cs typeface="Times New Roman"/>
              </a:rPr>
              <a:t>()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initializes the servlet before it begins processing requests.</a:t>
            </a:r>
          </a:p>
          <a:p>
            <a:pPr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Characteristics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Called only once 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Called after servlet creation 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Performs initialization tasks 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Example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public void </a:t>
            </a:r>
            <a:r>
              <a:rPr lang="en-US" sz="2000" dirty="0" err="1">
                <a:latin typeface="Times New Roman"/>
                <a:cs typeface="Times New Roman"/>
              </a:rPr>
              <a:t>init</a:t>
            </a:r>
            <a:r>
              <a:rPr lang="en-US" sz="2000" dirty="0">
                <a:latin typeface="Times New Roman"/>
                <a:cs typeface="Times New Roman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   </a:t>
            </a:r>
            <a:r>
              <a:rPr lang="en-US" sz="2000" dirty="0" err="1">
                <a:latin typeface="Times New Roman"/>
                <a:cs typeface="Times New Roman"/>
              </a:rPr>
              <a:t>System.out.println</a:t>
            </a:r>
            <a:r>
              <a:rPr lang="en-US" sz="2000" dirty="0">
                <a:latin typeface="Times New Roman"/>
                <a:cs typeface="Times New Roman"/>
              </a:rPr>
              <a:t>("Servlet Initialized");</a:t>
            </a:r>
          </a:p>
          <a:p>
            <a:pPr lvl="0">
              <a:lnSpc>
                <a:spcPct val="150000"/>
              </a:lnSpc>
            </a:pPr>
            <a:r>
              <a:rPr lang="en-US" sz="2000">
                <a:latin typeface="Times New Roman"/>
                <a:cs typeface="Times New Roman"/>
              </a:rPr>
              <a:t>}</a:t>
            </a:r>
            <a:endParaRPr lang="en-US" sz="2000" dirty="0">
              <a:latin typeface="Times New Roman"/>
              <a:cs typeface="Times New Roman"/>
            </a:endParaRPr>
          </a:p>
          <a:p>
            <a:pPr lvl="0"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Performance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Heavy initialization can increase startup time. 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Initialization is performed only once.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1460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3E9F-BE00-0449-E2C4-A6817FFAB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6C7837-191F-BA07-1478-2DEAFF1930BF}"/>
              </a:ext>
            </a:extLst>
          </p:cNvPr>
          <p:cNvSpPr/>
          <p:nvPr/>
        </p:nvSpPr>
        <p:spPr>
          <a:xfrm flipV="1">
            <a:off x="320302" y="194466"/>
            <a:ext cx="11551395" cy="637130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059BE-92CC-CD4E-4F7A-219D7226E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58" y="366776"/>
            <a:ext cx="599797" cy="613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8EBE2A-C63B-A29F-2AE3-D425FC841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310" y="250527"/>
            <a:ext cx="883395" cy="90135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F23661E-5141-94B7-F3EC-D52A0926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945" y="374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latin typeface="Times New Roman"/>
                <a:cs typeface="Times New Roman"/>
              </a:rPr>
              <a:t>service()</a:t>
            </a:r>
            <a:r>
              <a:rPr lang="en-US" sz="3200" b="1">
                <a:latin typeface="Times New Roman"/>
                <a:ea typeface="+mj-lt"/>
                <a:cs typeface="Times New Roman"/>
              </a:rPr>
              <a:t> METHOD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833EBA0-29F1-6F35-3721-3D4F023EF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651" y="991214"/>
            <a:ext cx="10200322" cy="5946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"/>
                <a:ea typeface="+mn-lt"/>
                <a:cs typeface="Times"/>
              </a:rPr>
              <a:t>Definition</a:t>
            </a:r>
            <a:endParaRPr lang="en-US">
              <a:latin typeface="Times"/>
              <a:ea typeface="+mn-lt"/>
              <a:cs typeface="Times"/>
            </a:endParaRPr>
          </a:p>
          <a:p>
            <a:r>
              <a:rPr lang="en-US" sz="2000">
                <a:latin typeface="Times"/>
                <a:cs typeface="Times"/>
              </a:rPr>
              <a:t>service()</a:t>
            </a:r>
            <a:r>
              <a:rPr lang="en-US" sz="2000">
                <a:latin typeface="Times"/>
                <a:ea typeface="+mn-lt"/>
                <a:cs typeface="Times"/>
              </a:rPr>
              <a:t> processes incoming client requests.</a:t>
            </a:r>
            <a:endParaRPr lang="en-US">
              <a:latin typeface="Times"/>
              <a:ea typeface="+mn-lt"/>
              <a:cs typeface="Times"/>
            </a:endParaRPr>
          </a:p>
          <a:p>
            <a:r>
              <a:rPr lang="en-US" sz="2000" b="1">
                <a:latin typeface="Times"/>
                <a:ea typeface="+mn-lt"/>
                <a:cs typeface="Times"/>
              </a:rPr>
              <a:t>Characteristics</a:t>
            </a:r>
            <a:endParaRPr lang="en-US">
              <a:latin typeface="Times"/>
              <a:ea typeface="Calibri"/>
              <a:cs typeface="Times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"/>
                <a:ea typeface="+mn-lt"/>
                <a:cs typeface="Times"/>
              </a:rPr>
              <a:t>Called for each request </a:t>
            </a:r>
            <a:endParaRPr lang="en-US">
              <a:latin typeface="Times"/>
              <a:ea typeface="Calibri"/>
              <a:cs typeface="Times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"/>
                <a:ea typeface="+mn-lt"/>
                <a:cs typeface="Times"/>
              </a:rPr>
              <a:t>Performs request processing </a:t>
            </a:r>
            <a:endParaRPr lang="en-US">
              <a:latin typeface="Times"/>
              <a:ea typeface="Calibri"/>
              <a:cs typeface="Times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"/>
                <a:ea typeface="+mn-lt"/>
                <a:cs typeface="Times"/>
              </a:rPr>
              <a:t>Can handle multiple requests </a:t>
            </a:r>
            <a:endParaRPr lang="en-US">
              <a:latin typeface="Times"/>
              <a:ea typeface="Calibri"/>
              <a:cs typeface="Times"/>
            </a:endParaRPr>
          </a:p>
          <a:p>
            <a:r>
              <a:rPr lang="en-US" sz="2000" b="1">
                <a:latin typeface="Times"/>
                <a:ea typeface="+mn-lt"/>
                <a:cs typeface="Times"/>
              </a:rPr>
              <a:t>HTTP Request Types</a:t>
            </a:r>
            <a:endParaRPr lang="en-US">
              <a:latin typeface="Times"/>
              <a:ea typeface="+mn-lt"/>
              <a:cs typeface="Times"/>
            </a:endParaRPr>
          </a:p>
          <a:p>
            <a:r>
              <a:rPr lang="en-US" sz="2000">
                <a:latin typeface="Times New Roman"/>
                <a:cs typeface="Times New Roman"/>
              </a:rPr>
              <a:t>service()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r>
              <a:rPr lang="en-US" sz="2000">
                <a:latin typeface="Consolas"/>
                <a:cs typeface="Times"/>
              </a:rPr>
              <a:t>   ↓</a:t>
            </a:r>
            <a:endParaRPr lang="en-US">
              <a:latin typeface="Consolas"/>
              <a:ea typeface="Calibri"/>
              <a:cs typeface="Times"/>
            </a:endParaRPr>
          </a:p>
          <a:p>
            <a:r>
              <a:rPr lang="en-US" sz="2000">
                <a:latin typeface="Consolas"/>
                <a:cs typeface="Times"/>
              </a:rPr>
              <a:t>┌─────────────┐</a:t>
            </a:r>
            <a:endParaRPr lang="en-US">
              <a:latin typeface="Consolas"/>
              <a:ea typeface="Calibri"/>
              <a:cs typeface="Times"/>
            </a:endParaRPr>
          </a:p>
          <a:p>
            <a:r>
              <a:rPr lang="en-US" sz="2000">
                <a:latin typeface="Consolas"/>
                <a:cs typeface="Times"/>
              </a:rPr>
              <a:t>↓      ↓      ↓</a:t>
            </a:r>
            <a:endParaRPr lang="en-US">
              <a:latin typeface="Consolas"/>
              <a:ea typeface="Calibri"/>
              <a:cs typeface="Times"/>
            </a:endParaRPr>
          </a:p>
          <a:p>
            <a:r>
              <a:rPr lang="en-US" sz="2000">
                <a:latin typeface="Times New Roman"/>
                <a:cs typeface="Times New Roman"/>
              </a:rPr>
              <a:t>GET    POST     PUT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r>
              <a:rPr lang="en-US" sz="2000">
                <a:latin typeface="Consolas"/>
                <a:cs typeface="Times"/>
              </a:rPr>
              <a:t>↓       ↓       ↓</a:t>
            </a:r>
            <a:endParaRPr lang="en-US">
              <a:latin typeface="Consolas"/>
              <a:ea typeface="Calibri"/>
              <a:cs typeface="Times"/>
            </a:endParaRPr>
          </a:p>
          <a:p>
            <a:r>
              <a:rPr lang="en-US" sz="2000" dirty="0" err="1">
                <a:latin typeface="Times New Roman"/>
                <a:cs typeface="Times New Roman"/>
              </a:rPr>
              <a:t>doGet</a:t>
            </a:r>
            <a:r>
              <a:rPr lang="en-US" sz="2000" dirty="0">
                <a:latin typeface="Times New Roman"/>
                <a:cs typeface="Times New Roman"/>
              </a:rPr>
              <a:t>() </a:t>
            </a:r>
            <a:r>
              <a:rPr lang="en-US" sz="2000" dirty="0" err="1">
                <a:latin typeface="Times New Roman"/>
                <a:cs typeface="Times New Roman"/>
              </a:rPr>
              <a:t>doPost</a:t>
            </a:r>
            <a:r>
              <a:rPr lang="en-US" sz="2000" dirty="0">
                <a:latin typeface="Times New Roman"/>
                <a:cs typeface="Times New Roman"/>
              </a:rPr>
              <a:t>() </a:t>
            </a:r>
            <a:r>
              <a:rPr lang="en-US" sz="2000" dirty="0" err="1">
                <a:latin typeface="Times New Roman"/>
                <a:cs typeface="Times New Roman"/>
              </a:rPr>
              <a:t>doPut</a:t>
            </a:r>
            <a:r>
              <a:rPr lang="en-US" sz="2000" dirty="0">
                <a:latin typeface="Times New Roman"/>
                <a:cs typeface="Times New Roman"/>
              </a:rPr>
              <a:t>()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Performance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Most frequently executed lifecycle method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Directly affects response time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Efficient request processing improves throughput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R="0" lvl="0" algn="l" defTabSz="914400">
              <a:buClrTx/>
              <a:buSzTx/>
              <a:tabLst/>
            </a:pPr>
            <a:endParaRPr lang="en-US" sz="2000" b="1" i="0" u="none" strike="noStrike" cap="none" normalizeH="0" baseline="0" dirty="0">
              <a:ln>
                <a:noFill/>
              </a:ln>
              <a:effectLst/>
              <a:latin typeface="Times"/>
              <a:cs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499523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9DDA-161A-B967-A01C-85E5F2624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162862-B8F6-F8E2-63B9-9A0F86B9D758}"/>
              </a:ext>
            </a:extLst>
          </p:cNvPr>
          <p:cNvSpPr/>
          <p:nvPr/>
        </p:nvSpPr>
        <p:spPr>
          <a:xfrm>
            <a:off x="184731" y="129504"/>
            <a:ext cx="11703747" cy="659997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CC528-14F7-4B79-86AA-C898AFCCC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26" y="-8527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latin typeface="Times New Roman"/>
                <a:cs typeface="Times New Roman"/>
              </a:rPr>
              <a:t>destroy()</a:t>
            </a:r>
            <a:r>
              <a:rPr lang="en-US" sz="3200" b="1">
                <a:latin typeface="Times New Roman"/>
                <a:ea typeface="+mj-lt"/>
                <a:cs typeface="Times New Roman"/>
              </a:rPr>
              <a:t> METHOD</a:t>
            </a:r>
            <a:endParaRPr lang="en-US" b="1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DDCBBC-C967-5AE7-E354-590D40ED8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0" y="250526"/>
            <a:ext cx="836455" cy="8890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047138-6353-8023-8010-6E9BADF14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91" y="250526"/>
            <a:ext cx="683645" cy="66942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298F9B6-43A5-4975-F77E-31E57B968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929" y="811122"/>
            <a:ext cx="11172502" cy="6454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Definition</a:t>
            </a:r>
            <a:endParaRPr lang="en-US" sz="200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/>
                <a:cs typeface="Times New Roman"/>
              </a:rPr>
              <a:t>destroy()</a:t>
            </a:r>
            <a:r>
              <a:rPr lang="en-US" sz="2000">
                <a:latin typeface="Times New Roman"/>
                <a:ea typeface="+mn-lt"/>
                <a:cs typeface="Times New Roman"/>
              </a:rPr>
              <a:t> performs cleanup before the servlet is removed.</a:t>
            </a:r>
          </a:p>
          <a:p>
            <a:pPr>
              <a:lnSpc>
                <a:spcPct val="150000"/>
              </a:lnSpc>
            </a:pPr>
            <a:r>
              <a:rPr lang="en-US" b="1">
                <a:latin typeface="Times New Roman"/>
                <a:ea typeface="+mn-lt"/>
                <a:cs typeface="Times New Roman"/>
              </a:rPr>
              <a:t>Characteristics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Called only once 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Releases resources 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Performs final cleanup 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Example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public void destroy() {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   </a:t>
            </a:r>
            <a:r>
              <a:rPr lang="en-US" sz="2000" dirty="0" err="1">
                <a:latin typeface="Times New Roman"/>
                <a:cs typeface="Times New Roman"/>
              </a:rPr>
              <a:t>System.out.println</a:t>
            </a:r>
            <a:r>
              <a:rPr lang="en-US" sz="2000" dirty="0">
                <a:latin typeface="Times New Roman"/>
                <a:cs typeface="Times New Roman"/>
              </a:rPr>
              <a:t>("Servlet Destroyed");</a:t>
            </a:r>
          </a:p>
          <a:p>
            <a:pPr lvl="0"/>
            <a:r>
              <a:rPr lang="en-US" sz="2000">
                <a:latin typeface="Times New Roman"/>
                <a:cs typeface="Times New Roman"/>
              </a:rPr>
              <a:t>}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Benefits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Prevents resource leakage 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Releases allocated resources 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Supports clean application shutdown </a:t>
            </a:r>
          </a:p>
          <a:p>
            <a:pPr lvl="0">
              <a:lnSpc>
                <a:spcPct val="150000"/>
              </a:lnSpc>
            </a:pPr>
            <a:endParaRPr lang="en-US" sz="2000" b="1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8498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7FBF-28C1-F462-E8B9-28962D70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A036DE-BE4B-668F-7781-A001F96E0ECF}"/>
              </a:ext>
            </a:extLst>
          </p:cNvPr>
          <p:cNvSpPr/>
          <p:nvPr/>
        </p:nvSpPr>
        <p:spPr>
          <a:xfrm>
            <a:off x="184731" y="129504"/>
            <a:ext cx="11703747" cy="659997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060CB9-063F-DC21-6AB8-6FECF136A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295" y="25052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latin typeface="Times New Roman"/>
                <a:ea typeface="+mj-lt"/>
                <a:cs typeface="Times New Roman"/>
              </a:rPr>
              <a:t>SEQUENCE DIAGRAM</a:t>
            </a:r>
            <a:endParaRPr lang="en-US" b="1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5CD8E5-5E5B-FE1C-6A45-F86A6A1C0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2945" y="250526"/>
            <a:ext cx="1094760" cy="1095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128B79-3433-EBD5-19DC-053BADFE1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91" y="250526"/>
            <a:ext cx="941950" cy="966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024A20-8F50-FAD5-88EC-074995DCA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63" y="1226949"/>
            <a:ext cx="9834966" cy="537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08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47429-187A-363A-9B44-A263C7D42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3DDFB8B-8B9F-93F1-0FA8-95DBAFA7A1FD}"/>
              </a:ext>
            </a:extLst>
          </p:cNvPr>
          <p:cNvSpPr/>
          <p:nvPr/>
        </p:nvSpPr>
        <p:spPr>
          <a:xfrm>
            <a:off x="184731" y="129504"/>
            <a:ext cx="11703747" cy="659997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50000"/>
              </a:lnSpc>
            </a:pPr>
            <a:endParaRPr lang="en-IN" sz="2000" b="1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EE804B-17A3-C4C3-A248-FCACEC19A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1794" y="250526"/>
            <a:ext cx="716247" cy="7308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5DDF78-A07B-F73A-1242-A2089CAB0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92" y="250526"/>
            <a:ext cx="598544" cy="61208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C3AF4EE-F59C-1604-1267-863E65475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73" y="5167677"/>
            <a:ext cx="1102349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3D900-20E6-FA39-C6E9-14E2448590E0}"/>
              </a:ext>
            </a:extLst>
          </p:cNvPr>
          <p:cNvSpPr txBox="1"/>
          <p:nvPr/>
        </p:nvSpPr>
        <p:spPr>
          <a:xfrm>
            <a:off x="2620297" y="233403"/>
            <a:ext cx="66859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b="1">
                <a:latin typeface="Times New Roman"/>
                <a:ea typeface="+mn-lt"/>
                <a:cs typeface="Times New Roman"/>
              </a:rPr>
              <a:t>PERFORMANCE ANALYSIS</a:t>
            </a:r>
            <a:endParaRPr lang="en-US" b="1">
              <a:latin typeface="Times New Roman"/>
              <a:ea typeface="Calibri" panose="020F0502020204030204"/>
              <a:cs typeface="Times New Roman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368DAB-FFF1-C2F1-A2AA-78ABF4C28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737762"/>
              </p:ext>
            </p:extLst>
          </p:nvPr>
        </p:nvGraphicFramePr>
        <p:xfrm>
          <a:off x="322881" y="1356101"/>
          <a:ext cx="11319960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73320">
                  <a:extLst>
                    <a:ext uri="{9D8B030D-6E8A-4147-A177-3AD203B41FA5}">
                      <a16:colId xmlns:a16="http://schemas.microsoft.com/office/drawing/2014/main" val="3602586243"/>
                    </a:ext>
                  </a:extLst>
                </a:gridCol>
                <a:gridCol w="3773320">
                  <a:extLst>
                    <a:ext uri="{9D8B030D-6E8A-4147-A177-3AD203B41FA5}">
                      <a16:colId xmlns:a16="http://schemas.microsoft.com/office/drawing/2014/main" val="4008049002"/>
                    </a:ext>
                  </a:extLst>
                </a:gridCol>
                <a:gridCol w="3773320">
                  <a:extLst>
                    <a:ext uri="{9D8B030D-6E8A-4147-A177-3AD203B41FA5}">
                      <a16:colId xmlns:a16="http://schemas.microsoft.com/office/drawing/2014/main" val="11667553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Method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Execution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Performance Impact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924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init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Once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Startup performance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951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service()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Every request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Response time &amp; throughput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091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destroy()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Once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Resource management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70602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93F785-D72B-6DDA-951B-1386D50841CE}"/>
              </a:ext>
            </a:extLst>
          </p:cNvPr>
          <p:cNvCxnSpPr/>
          <p:nvPr/>
        </p:nvCxnSpPr>
        <p:spPr>
          <a:xfrm>
            <a:off x="325987" y="1707696"/>
            <a:ext cx="11317234" cy="648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B86C915-EB2C-1302-FEEB-4FE486727770}"/>
              </a:ext>
            </a:extLst>
          </p:cNvPr>
          <p:cNvSpPr txBox="1"/>
          <p:nvPr/>
        </p:nvSpPr>
        <p:spPr>
          <a:xfrm>
            <a:off x="596950" y="3137398"/>
            <a:ext cx="8052018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>
                <a:latin typeface="Times New Roman"/>
                <a:cs typeface="Times New Roman"/>
              </a:rPr>
              <a:t>Key Analysis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000" dirty="0" err="1">
                <a:latin typeface="Times New Roman"/>
                <a:cs typeface="Times New Roman"/>
              </a:rPr>
              <a:t>init</a:t>
            </a:r>
            <a:r>
              <a:rPr lang="en-IN" sz="2000" dirty="0">
                <a:latin typeface="Times New Roman"/>
                <a:cs typeface="Times New Roman"/>
              </a:rPr>
              <a:t>() → expensive initialization affects startup. 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000">
                <a:latin typeface="Times New Roman"/>
                <a:cs typeface="Times New Roman"/>
              </a:rPr>
              <a:t>service() → inefficient processing affects application performance. 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000">
                <a:latin typeface="Times New Roman"/>
                <a:cs typeface="Times New Roman"/>
              </a:rPr>
              <a:t>destroy() → improper cleanup may cause resource problems. </a:t>
            </a:r>
          </a:p>
          <a:p>
            <a:pPr>
              <a:lnSpc>
                <a:spcPct val="150000"/>
              </a:lnSpc>
            </a:pPr>
            <a:r>
              <a:rPr lang="en-IN" sz="2000" b="1">
                <a:latin typeface="Times New Roman"/>
                <a:cs typeface="Times New Roman"/>
              </a:rPr>
              <a:t>Main Point</a:t>
            </a:r>
            <a:endParaRPr lang="en-IN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2000">
                <a:latin typeface="Times New Roman"/>
                <a:cs typeface="Times New Roman"/>
              </a:rPr>
              <a:t>service() has the greatest impact on runtime performance because it executes repeatedly.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/>
              <a:cs typeface="Times New Roman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7441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2F34D-F588-348C-BF94-C5744F03E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768935-C724-20FD-FC91-4CC640FBEFD6}"/>
              </a:ext>
            </a:extLst>
          </p:cNvPr>
          <p:cNvSpPr/>
          <p:nvPr/>
        </p:nvSpPr>
        <p:spPr>
          <a:xfrm>
            <a:off x="184731" y="129504"/>
            <a:ext cx="11703747" cy="659997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AA077-8310-14D9-3896-7A7C64F46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191" y="5692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REAL-WORLD APPLICATIONS</a:t>
            </a:r>
            <a:b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IN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69DC15-1F9E-094C-F12C-B27C49F58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386" y="250526"/>
            <a:ext cx="1314319" cy="1341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31C97D-C453-BD3F-95CA-512A6A569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91" y="250526"/>
            <a:ext cx="1084017" cy="110854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BF0DFF7-A768-2028-F875-C7605948C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49" y="1597973"/>
            <a:ext cx="11172502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latin typeface="Times New Roman"/>
                <a:ea typeface="+mn-lt"/>
                <a:cs typeface="Times New Roman"/>
              </a:rPr>
              <a:t>Applications of Servlets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E-commerce websites 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Banking applications 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Student management systems 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Online examination systems 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Hospital management systems 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Authentication systems 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Enterprise web applications</a:t>
            </a:r>
            <a:endParaRPr lang="en-US" sz="24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2736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7E6AE-8180-A568-6CC4-C5BFFC63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2433F9-006E-2909-BDED-6D2971F7759E}"/>
              </a:ext>
            </a:extLst>
          </p:cNvPr>
          <p:cNvSpPr/>
          <p:nvPr/>
        </p:nvSpPr>
        <p:spPr>
          <a:xfrm>
            <a:off x="184731" y="129504"/>
            <a:ext cx="11703747" cy="659997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50000"/>
              </a:lnSpc>
            </a:pPr>
            <a:endParaRPr lang="en-IN" sz="2000" b="1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26B1F-D794-2A78-08BA-5C4341703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1794" y="250526"/>
            <a:ext cx="716247" cy="7308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667ACF-4843-19BA-2250-92808F34E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92" y="250526"/>
            <a:ext cx="598544" cy="61208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E2403B2-D36B-2431-6A31-4AC280C9F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73" y="5167677"/>
            <a:ext cx="1102349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1DEE2-B331-AF24-354D-CCD462038625}"/>
              </a:ext>
            </a:extLst>
          </p:cNvPr>
          <p:cNvSpPr txBox="1"/>
          <p:nvPr/>
        </p:nvSpPr>
        <p:spPr>
          <a:xfrm>
            <a:off x="2620297" y="233403"/>
            <a:ext cx="66859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b="1">
                <a:latin typeface="Times"/>
                <a:ea typeface="+mn-lt"/>
                <a:cs typeface="Times"/>
              </a:rPr>
              <a:t>CONNECTING EVERYTHING</a:t>
            </a:r>
            <a:endParaRPr lang="en-US" b="1">
              <a:latin typeface="Times"/>
              <a:cs typeface="Time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C01B26-0EEA-A6A2-E026-33348B2E3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030" y="865322"/>
            <a:ext cx="5543872" cy="574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94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3F675-04E2-1D98-ED7F-A01F89BEC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88DAEA-3A3D-20C0-442F-E7D53AD99F7E}"/>
              </a:ext>
            </a:extLst>
          </p:cNvPr>
          <p:cNvSpPr/>
          <p:nvPr/>
        </p:nvSpPr>
        <p:spPr>
          <a:xfrm>
            <a:off x="184731" y="129504"/>
            <a:ext cx="11703747" cy="659997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0F27D-B31F-85E4-3C3C-AA60B70BD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1794" y="250526"/>
            <a:ext cx="716247" cy="7308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E500C5-B8B1-E9D8-3CAC-EF6A4ED0D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92" y="250526"/>
            <a:ext cx="598544" cy="612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2F4116-F500-9C92-82C3-855D5DE0CBF3}"/>
              </a:ext>
            </a:extLst>
          </p:cNvPr>
          <p:cNvSpPr txBox="1"/>
          <p:nvPr/>
        </p:nvSpPr>
        <p:spPr>
          <a:xfrm>
            <a:off x="4650656" y="323543"/>
            <a:ext cx="7541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CONCLUSION</a:t>
            </a:r>
            <a:endParaRPr lang="en-IN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79DD5-E95F-EE35-F7F5-ADDC88AA4F90}"/>
              </a:ext>
            </a:extLst>
          </p:cNvPr>
          <p:cNvSpPr txBox="1"/>
          <p:nvPr/>
        </p:nvSpPr>
        <p:spPr>
          <a:xfrm>
            <a:off x="593517" y="1159663"/>
            <a:ext cx="10713667" cy="55659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latin typeface="Times New Roman"/>
                <a:ea typeface="+mn-lt"/>
                <a:cs typeface="Times New Roman"/>
              </a:rPr>
              <a:t>Key Takeaways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Servlet is a Java-based server-side component.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Servlet Container controls its lifecycle.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 err="1">
                <a:latin typeface="Times New Roman"/>
                <a:cs typeface="Times New Roman"/>
              </a:rPr>
              <a:t>init</a:t>
            </a:r>
            <a:r>
              <a:rPr lang="en-US" sz="2400" dirty="0">
                <a:latin typeface="Times New Roman"/>
                <a:cs typeface="Times New Roman"/>
              </a:rPr>
              <a:t>()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performs initialization. 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service()</a:t>
            </a:r>
            <a:r>
              <a:rPr lang="en-US" sz="2400">
                <a:latin typeface="Times New Roman"/>
                <a:ea typeface="+mn-lt"/>
                <a:cs typeface="Times New Roman"/>
              </a:rPr>
              <a:t> processes requests.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destroy()</a:t>
            </a:r>
            <a:r>
              <a:rPr lang="en-US" sz="2400">
                <a:latin typeface="Times New Roman"/>
                <a:ea typeface="+mn-lt"/>
                <a:cs typeface="Times New Roman"/>
              </a:rPr>
              <a:t> performs cleanup.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Efficient lifecycle management improves application performance.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Understanding the lifecycle is important for developing scalable Java web applications. </a:t>
            </a:r>
            <a:endParaRPr lang="en-US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6390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EDDFB8-A0F2-077D-79C6-745570671197}"/>
              </a:ext>
            </a:extLst>
          </p:cNvPr>
          <p:cNvSpPr/>
          <p:nvPr/>
        </p:nvSpPr>
        <p:spPr>
          <a:xfrm>
            <a:off x="108155" y="129013"/>
            <a:ext cx="11703747" cy="659997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9C434-DBC3-9345-2340-D261CAD81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799" y="1913849"/>
            <a:ext cx="9144000" cy="2387600"/>
          </a:xfrm>
        </p:spPr>
        <p:txBody>
          <a:bodyPr>
            <a:noAutofit/>
          </a:bodyPr>
          <a:lstStyle/>
          <a:p>
            <a:r>
              <a:rPr lang="en-US" sz="11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1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734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537</Words>
  <Application>Microsoft Office PowerPoint</Application>
  <PresentationFormat>Widescreen</PresentationFormat>
  <Paragraphs>167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Arial,Sans-Serif</vt:lpstr>
      <vt:lpstr>Calibri</vt:lpstr>
      <vt:lpstr>Calibri Light</vt:lpstr>
      <vt:lpstr>Consolas</vt:lpstr>
      <vt:lpstr>Times</vt:lpstr>
      <vt:lpstr>Times New Roman</vt:lpstr>
      <vt:lpstr>Wingdings</vt:lpstr>
      <vt:lpstr>Office Theme</vt:lpstr>
      <vt:lpstr>PowerPoint Presentation</vt:lpstr>
      <vt:lpstr>INTRODUCTION</vt:lpstr>
      <vt:lpstr>Contents</vt:lpstr>
      <vt:lpstr>SERVLET ARCHITECTURE</vt:lpstr>
      <vt:lpstr>SERVLET LIFE CYCLE</vt:lpstr>
      <vt:lpstr>init() METHOD</vt:lpstr>
      <vt:lpstr>service() METHOD</vt:lpstr>
      <vt:lpstr>destroy() METHOD</vt:lpstr>
      <vt:lpstr>SEQUENCE DIAGRAM</vt:lpstr>
      <vt:lpstr>PowerPoint Presentation</vt:lpstr>
      <vt:lpstr>REAL-WORLD APPLICATIONS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Harissh M</dc:creator>
  <cp:lastModifiedBy>srijitha sivakumar</cp:lastModifiedBy>
  <cp:revision>308</cp:revision>
  <dcterms:created xsi:type="dcterms:W3CDTF">2025-08-20T18:11:43Z</dcterms:created>
  <dcterms:modified xsi:type="dcterms:W3CDTF">2026-08-18T14:48:16Z</dcterms:modified>
</cp:coreProperties>
</file>